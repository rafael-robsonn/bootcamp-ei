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7FD4"/>
          </a:solidFill>
          <a:ln cap="flat" cmpd="sng" w="12700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320040" y="100584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Rafael Robson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20040" y="1783080"/>
            <a:ext cx="5943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Nunes de Araújo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20040" y="2606040"/>
            <a:ext cx="5669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Fundador &amp; Engenheiro Full Stack AI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20040" y="3246120"/>
            <a:ext cx="1280160" cy="256032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320040" y="324612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737360" y="3246120"/>
            <a:ext cx="1280160" cy="256032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737360" y="324612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154680" y="3246120"/>
            <a:ext cx="1280160" cy="256032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3154680" y="324612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LLMOps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20040" y="3611880"/>
            <a:ext cx="1280160" cy="256032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320040" y="361188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1737360" y="3611880"/>
            <a:ext cx="1280160" cy="256032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1737360" y="361188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Go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154680" y="3611880"/>
            <a:ext cx="1280160" cy="256032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3154680" y="361188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32004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rafaelrobsonnunesdearaujo@gmail.com   ·   linkedin.com/in/rafael-robson   ·   Brasília, DF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0" y="731520"/>
            <a:ext cx="155448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"/>
          <p:cNvSpPr/>
          <p:nvPr/>
        </p:nvSpPr>
        <p:spPr>
          <a:xfrm>
            <a:off x="7132320" y="3291840"/>
            <a:ext cx="137160" cy="137160"/>
          </a:xfrm>
          <a:prstGeom prst="ellipse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7333488" y="326440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Disponível para projetos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Sobre Mim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914400"/>
            <a:ext cx="1645920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2286000" y="822960"/>
            <a:ext cx="64922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Comecei a programar aos </a:t>
            </a:r>
            <a:r>
              <a:rPr lang="en-US" sz="1300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7-</a:t>
            </a:r>
            <a:r>
              <a:rPr b="0" i="0" lang="en-US" sz="13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8 anos e a arquitetar soluções de IA aos 13. Essa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década de experiência prática me permite unir estratégia empresarial à execução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técnica de alto nível.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Como CEO da ChesinBus, lidero o desenvolvimento de soluções de mobilidade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sustentável para os setores corporativo e governamental.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No lado técnico, arquiteto um ecossistema SaaS proprietário que usa LangGraph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e LangChain para orquestrar múltiplos agentes de IA que automatizam pipelines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complexos de engenharia de dados.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7FD4"/>
          </a:solidFill>
          <a:ln cap="flat" cmpd="sng" w="12700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Fundador · Estrategista · Engenheiro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Projetos em Destaque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274320" y="777240"/>
            <a:ext cx="2834640" cy="406908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274320" y="777240"/>
            <a:ext cx="2834640" cy="64008"/>
          </a:xfrm>
          <a:prstGeom prst="rect">
            <a:avLst/>
          </a:prstGeom>
          <a:solidFill>
            <a:srgbClr val="1A7FD4"/>
          </a:solidFill>
          <a:ln cap="flat" cmpd="sng" w="12700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438912" y="89611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38912" y="1170432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DataSM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38912" y="160934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SaaS · IA &amp; Dados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38912" y="1993392"/>
            <a:ext cx="254203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Framework dual-brain para automação de pipelines de engenharia de dados com LangGraph e dbt.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38912" y="3749040"/>
            <a:ext cx="1371600" cy="20116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38912" y="374904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38912" y="4005072"/>
            <a:ext cx="1371600" cy="20116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438912" y="400507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dbt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38912" y="4261104"/>
            <a:ext cx="1371600" cy="20116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38912" y="426110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BigQuery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246120" y="777240"/>
            <a:ext cx="2834640" cy="406908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3246120" y="777240"/>
            <a:ext cx="2834640" cy="64008"/>
          </a:xfrm>
          <a:prstGeom prst="rect">
            <a:avLst/>
          </a:prstGeom>
          <a:solidFill>
            <a:srgbClr val="1A7FD4"/>
          </a:solidFill>
          <a:ln cap="flat" cmpd="sng" w="12700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410712" y="89611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410712" y="1170432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Chesin Bus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410712" y="160934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Mobilidade Sustentável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410712" y="1993392"/>
            <a:ext cx="254203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Ônibus elétricos e híbridos inteligentes. Modelos Vision (plug-in) e E-Vision (100% elétrico).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410712" y="3749040"/>
            <a:ext cx="1371600" cy="20116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3410712" y="374904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IA Embarcada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410712" y="4005072"/>
            <a:ext cx="1371600" cy="20116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410712" y="400507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Elétrico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410712" y="4261104"/>
            <a:ext cx="1371600" cy="20116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3410712" y="426110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Sustentável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217920" y="777240"/>
            <a:ext cx="2834640" cy="406908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6217920" y="777240"/>
            <a:ext cx="2834640" cy="64008"/>
          </a:xfrm>
          <a:prstGeom prst="rect">
            <a:avLst/>
          </a:prstGeom>
          <a:solidFill>
            <a:srgbClr val="1A7FD4"/>
          </a:solidFill>
          <a:ln cap="flat" cmpd="sng" w="12700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382512" y="89611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382512" y="1170432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Análise de Sentimentos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382512" y="160934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NLP · USP ·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382512" y="1993392"/>
            <a:ext cx="254203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LSTM e GRU bidirecionais sobre o corpus B2W Reviews. Benchmarking comparativo de arquiteturas.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382512" y="3749040"/>
            <a:ext cx="1371600" cy="20116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382512" y="374904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PyTorch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382512" y="4005072"/>
            <a:ext cx="1371600" cy="20116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6382512" y="400507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382512" y="4261104"/>
            <a:ext cx="1371600" cy="20116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382512" y="426110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GRU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7FD4"/>
          </a:solidFill>
          <a:ln cap="flat" cmpd="sng" w="12700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DataSM — Engenharia de Dados com 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274320" y="804672"/>
            <a:ext cx="3749040" cy="457200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274320" y="804672"/>
            <a:ext cx="54864" cy="457200"/>
          </a:xfrm>
          <a:prstGeom prst="rect">
            <a:avLst/>
          </a:prstGeom>
          <a:solidFill>
            <a:srgbClr val="1A7FD4"/>
          </a:solidFill>
          <a:ln cap="flat" cmpd="sng" w="12700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20624" y="8412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20624" y="1024128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Entende o ambiente e metadados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6"/>
          <p:cNvCxnSpPr/>
          <p:nvPr/>
        </p:nvCxnSpPr>
        <p:spPr>
          <a:xfrm>
            <a:off x="301752" y="1271016"/>
            <a:ext cx="0" cy="100584"/>
          </a:xfrm>
          <a:prstGeom prst="straightConnector1">
            <a:avLst/>
          </a:prstGeom>
          <a:noFill/>
          <a:ln cap="flat" cmpd="sng" w="12700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6"/>
          <p:cNvSpPr/>
          <p:nvPr/>
        </p:nvSpPr>
        <p:spPr>
          <a:xfrm>
            <a:off x="274320" y="1371600"/>
            <a:ext cx="3749040" cy="457200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274320" y="1371600"/>
            <a:ext cx="54864" cy="457200"/>
          </a:xfrm>
          <a:prstGeom prst="rect">
            <a:avLst/>
          </a:prstGeom>
          <a:solidFill>
            <a:srgbClr val="1A7FD4"/>
          </a:solidFill>
          <a:ln cap="flat" cmpd="sng" w="12700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420624" y="140817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Engineer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20624" y="1591056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Gera código via Codestral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6"/>
          <p:cNvCxnSpPr/>
          <p:nvPr/>
        </p:nvCxnSpPr>
        <p:spPr>
          <a:xfrm>
            <a:off x="301752" y="1837944"/>
            <a:ext cx="0" cy="100584"/>
          </a:xfrm>
          <a:prstGeom prst="straightConnector1">
            <a:avLst/>
          </a:prstGeom>
          <a:noFill/>
          <a:ln cap="flat" cmpd="sng" w="12700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6"/>
          <p:cNvSpPr/>
          <p:nvPr/>
        </p:nvSpPr>
        <p:spPr>
          <a:xfrm>
            <a:off x="274320" y="1938528"/>
            <a:ext cx="3749040" cy="457200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274320" y="1938528"/>
            <a:ext cx="54864" cy="457200"/>
          </a:xfrm>
          <a:prstGeom prst="rect">
            <a:avLst/>
          </a:prstGeom>
          <a:solidFill>
            <a:srgbClr val="1A7FD4"/>
          </a:solidFill>
          <a:ln cap="flat" cmpd="sng" w="12700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20624" y="197510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Reviewer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20624" y="2157984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Revisa com Claude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6"/>
          <p:cNvCxnSpPr/>
          <p:nvPr/>
        </p:nvCxnSpPr>
        <p:spPr>
          <a:xfrm>
            <a:off x="301752" y="2404872"/>
            <a:ext cx="0" cy="100584"/>
          </a:xfrm>
          <a:prstGeom prst="straightConnector1">
            <a:avLst/>
          </a:prstGeom>
          <a:noFill/>
          <a:ln cap="flat" cmpd="sng" w="12700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6"/>
          <p:cNvSpPr/>
          <p:nvPr/>
        </p:nvSpPr>
        <p:spPr>
          <a:xfrm>
            <a:off x="274320" y="2505456"/>
            <a:ext cx="3749040" cy="457200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274320" y="2505456"/>
            <a:ext cx="54864" cy="457200"/>
          </a:xfrm>
          <a:prstGeom prst="rect">
            <a:avLst/>
          </a:prstGeom>
          <a:solidFill>
            <a:srgbClr val="1A7FD4"/>
          </a:solidFill>
          <a:ln cap="flat" cmpd="sng" w="12700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420624" y="25420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Validator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20624" y="2724912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Válida</a:t>
            </a:r>
            <a:r>
              <a:rPr b="0" i="0" lang="en-US" sz="9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 saída e qualidade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6"/>
          <p:cNvCxnSpPr/>
          <p:nvPr/>
        </p:nvCxnSpPr>
        <p:spPr>
          <a:xfrm>
            <a:off x="301752" y="2971800"/>
            <a:ext cx="0" cy="100584"/>
          </a:xfrm>
          <a:prstGeom prst="straightConnector1">
            <a:avLst/>
          </a:prstGeom>
          <a:noFill/>
          <a:ln cap="flat" cmpd="sng" w="12700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6"/>
          <p:cNvSpPr/>
          <p:nvPr/>
        </p:nvSpPr>
        <p:spPr>
          <a:xfrm>
            <a:off x="274320" y="3072384"/>
            <a:ext cx="3749040" cy="457200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274320" y="3072384"/>
            <a:ext cx="54864" cy="457200"/>
          </a:xfrm>
          <a:prstGeom prst="rect">
            <a:avLst/>
          </a:prstGeom>
          <a:solidFill>
            <a:srgbClr val="1A7FD4"/>
          </a:solidFill>
          <a:ln cap="flat" cmpd="sng" w="12700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20624" y="310896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20624" y="3291840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Aprova ou itera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274320" y="3703320"/>
            <a:ext cx="1783080" cy="27432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274320" y="370332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LangGraph + LangChain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2194560" y="3703320"/>
            <a:ext cx="1783080" cy="27432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2194560" y="370332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Codestral + Claude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274320" y="4050792"/>
            <a:ext cx="1783080" cy="27432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274320" y="4050792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dbt + BigQuery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2194560" y="4050792"/>
            <a:ext cx="1783080" cy="27432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2194560" y="4050792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React + TypeScript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114800" y="704100"/>
            <a:ext cx="4969800" cy="4224600"/>
          </a:xfrm>
          <a:prstGeom prst="rect">
            <a:avLst/>
          </a:prstGeom>
          <a:solidFill>
            <a:srgbClr val="1F2937"/>
          </a:solidFill>
          <a:ln cap="flat" cmpd="sng" w="10150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4315968" y="749808"/>
            <a:ext cx="4617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Interface DataSM v1.0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6" title="Frame 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275" y="1088175"/>
            <a:ext cx="4860850" cy="3456425"/>
          </a:xfrm>
          <a:prstGeom prst="rect">
            <a:avLst/>
          </a:prstGeom>
          <a:solidFill>
            <a:srgbClr val="1F2937"/>
          </a:solidFill>
          <a:ln cap="flat" cmpd="sng" w="10150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Tecnologias &amp; Habilidades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274320" y="804672"/>
            <a:ext cx="2743200" cy="169164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274320" y="804672"/>
            <a:ext cx="2743200" cy="54864"/>
          </a:xfrm>
          <a:prstGeom prst="rect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438912" y="89611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Linguagens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38912" y="1280160"/>
            <a:ext cx="73152" cy="73152"/>
          </a:xfrm>
          <a:prstGeom prst="ellipse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85216" y="122529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38912" y="1554480"/>
            <a:ext cx="73152" cy="73152"/>
          </a:xfrm>
          <a:prstGeom prst="ellipse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585216" y="149961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38912" y="1828800"/>
            <a:ext cx="73152" cy="73152"/>
          </a:xfrm>
          <a:prstGeom prst="ellipse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585216" y="177393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Scala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38912" y="2103120"/>
            <a:ext cx="73152" cy="73152"/>
          </a:xfrm>
          <a:prstGeom prst="ellipse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585216" y="204825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38912" y="2377440"/>
            <a:ext cx="73152" cy="73152"/>
          </a:xfrm>
          <a:prstGeom prst="ellipse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585216" y="232257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COBOL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200400" y="804672"/>
            <a:ext cx="2743200" cy="169164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3200400" y="804672"/>
            <a:ext cx="2743200" cy="54864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3364992" y="89611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IA &amp; LLM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364992" y="1280160"/>
            <a:ext cx="73152" cy="73152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3511296" y="122529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364992" y="1554480"/>
            <a:ext cx="73152" cy="73152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3511296" y="149961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3364992" y="1828800"/>
            <a:ext cx="73152" cy="73152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3511296" y="177393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LLMOps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364992" y="2103120"/>
            <a:ext cx="73152" cy="73152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3511296" y="204825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MLOps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126480" y="804672"/>
            <a:ext cx="2743200" cy="169164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6126480" y="804672"/>
            <a:ext cx="2743200" cy="54864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6291072" y="89611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Dados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291072" y="1280160"/>
            <a:ext cx="73152" cy="73152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6437376" y="122529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dbt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291072" y="1554480"/>
            <a:ext cx="73152" cy="73152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6437376" y="149961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BigQuery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291072" y="1828800"/>
            <a:ext cx="73152" cy="73152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6437376" y="177393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Spark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291072" y="2103120"/>
            <a:ext cx="73152" cy="73152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6437376" y="204825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274320" y="2724912"/>
            <a:ext cx="2743200" cy="169164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274320" y="2724912"/>
            <a:ext cx="2743200" cy="54864"/>
          </a:xfrm>
          <a:prstGeom prst="rect">
            <a:avLst/>
          </a:prstGeom>
          <a:solidFill>
            <a:srgbClr val="3B9EE8"/>
          </a:solidFill>
          <a:ln cap="flat" cmpd="sng" w="12700">
            <a:solidFill>
              <a:srgbClr val="3B9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38912" y="281635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38912" y="3200400"/>
            <a:ext cx="73152" cy="73152"/>
          </a:xfrm>
          <a:prstGeom prst="ellipse">
            <a:avLst/>
          </a:prstGeom>
          <a:solidFill>
            <a:srgbClr val="3B9EE8"/>
          </a:solidFill>
          <a:ln cap="flat" cmpd="sng" w="12700">
            <a:solidFill>
              <a:srgbClr val="3B9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585216" y="314553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AWS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38912" y="3474720"/>
            <a:ext cx="73152" cy="73152"/>
          </a:xfrm>
          <a:prstGeom prst="ellipse">
            <a:avLst/>
          </a:prstGeom>
          <a:solidFill>
            <a:srgbClr val="3B9EE8"/>
          </a:solidFill>
          <a:ln cap="flat" cmpd="sng" w="12700">
            <a:solidFill>
              <a:srgbClr val="3B9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585216" y="341985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Google Cloud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38912" y="3749040"/>
            <a:ext cx="73152" cy="73152"/>
          </a:xfrm>
          <a:prstGeom prst="ellipse">
            <a:avLst/>
          </a:prstGeom>
          <a:solidFill>
            <a:srgbClr val="3B9EE8"/>
          </a:solidFill>
          <a:ln cap="flat" cmpd="sng" w="12700">
            <a:solidFill>
              <a:srgbClr val="3B9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585216" y="369417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Azure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200400" y="2724912"/>
            <a:ext cx="2743200" cy="169164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3200400" y="2724912"/>
            <a:ext cx="2743200" cy="54864"/>
          </a:xfrm>
          <a:prstGeom prst="rect">
            <a:avLst/>
          </a:prstGeom>
          <a:solidFill>
            <a:srgbClr val="8B97A8"/>
          </a:solidFill>
          <a:ln cap="flat" cmpd="sng" w="12700">
            <a:solidFill>
              <a:srgbClr val="8B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3364992" y="281635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Infra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364992" y="3200400"/>
            <a:ext cx="73152" cy="73152"/>
          </a:xfrm>
          <a:prstGeom prst="ellipse">
            <a:avLst/>
          </a:prstGeom>
          <a:solidFill>
            <a:srgbClr val="8B97A8"/>
          </a:solidFill>
          <a:ln cap="flat" cmpd="sng" w="12700">
            <a:solidFill>
              <a:srgbClr val="8B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3511296" y="314553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364992" y="3474720"/>
            <a:ext cx="73152" cy="73152"/>
          </a:xfrm>
          <a:prstGeom prst="ellipse">
            <a:avLst/>
          </a:prstGeom>
          <a:solidFill>
            <a:srgbClr val="8B97A8"/>
          </a:solidFill>
          <a:ln cap="flat" cmpd="sng" w="12700">
            <a:solidFill>
              <a:srgbClr val="8B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3511296" y="341985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Terraform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126480" y="2724912"/>
            <a:ext cx="2743200" cy="169164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6126480" y="2724912"/>
            <a:ext cx="2743200" cy="54864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6291072" y="281635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291072" y="3200400"/>
            <a:ext cx="73152" cy="73152"/>
          </a:xfrm>
          <a:prstGeom prst="ellipse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6437376" y="314553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291072" y="3474720"/>
            <a:ext cx="73152" cy="73152"/>
          </a:xfrm>
          <a:prstGeom prst="ellipse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6437376" y="341985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TypeScript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Formação &amp; Contato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365760" y="822960"/>
            <a:ext cx="4114800" cy="146304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365760" y="822960"/>
            <a:ext cx="4114800" cy="54864"/>
          </a:xfrm>
          <a:prstGeom prst="rect">
            <a:avLst/>
          </a:prstGeom>
          <a:solidFill>
            <a:srgbClr val="1A7FD4"/>
          </a:solidFill>
          <a:ln cap="flat" cmpd="sng" w="12700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548640" y="8961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Formação Acadêmica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Bacharelado em Ciência de Dados e Machine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48640" y="157276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CEUB — Brasília, DF   ·   2026 – Cursando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48640" y="1828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+ Cursos complementares na USP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365760" y="2514600"/>
            <a:ext cx="4114800" cy="13716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365760" y="2514600"/>
            <a:ext cx="4114800" cy="54864"/>
          </a:xfrm>
          <a:prstGeom prst="rect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548640" y="25877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Idiomas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48640" y="294436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Português  · 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508760" y="2944368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Nativo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48640" y="321868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Inglês  · 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508760" y="3218688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A2 — Básico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548640" y="349300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Espanhol  · 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508760" y="3493008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Intermediário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754880" y="822960"/>
            <a:ext cx="4114800" cy="278892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4754880" y="822960"/>
            <a:ext cx="4114800" cy="54864"/>
          </a:xfrm>
          <a:prstGeom prst="rect">
            <a:avLst/>
          </a:prstGeom>
          <a:solidFill>
            <a:srgbClr val="1A7FD4"/>
          </a:solidFill>
          <a:ln cap="flat" cmpd="sng" w="12700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4937760" y="8961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9EE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9EE8"/>
                </a:solidFill>
                <a:latin typeface="Calibri"/>
                <a:ea typeface="Calibri"/>
                <a:cs typeface="Calibri"/>
                <a:sym typeface="Calibri"/>
              </a:rPr>
              <a:t>Contato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937760" y="12801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937760" y="14904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rafaelrobsonnunesdearaujo@gmail.com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8"/>
          <p:cNvCxnSpPr/>
          <p:nvPr/>
        </p:nvCxnSpPr>
        <p:spPr>
          <a:xfrm>
            <a:off x="4937760" y="1883664"/>
            <a:ext cx="3657600" cy="0"/>
          </a:xfrm>
          <a:prstGeom prst="straightConnector1">
            <a:avLst/>
          </a:prstGeom>
          <a:noFill/>
          <a:ln cap="flat" cmpd="sng" w="9525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8"/>
          <p:cNvSpPr/>
          <p:nvPr/>
        </p:nvSpPr>
        <p:spPr>
          <a:xfrm>
            <a:off x="4937760" y="193852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937760" y="2148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linkedin.com/in/rafael-robson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8"/>
          <p:cNvCxnSpPr/>
          <p:nvPr/>
        </p:nvCxnSpPr>
        <p:spPr>
          <a:xfrm>
            <a:off x="4937760" y="2542032"/>
            <a:ext cx="3657600" cy="0"/>
          </a:xfrm>
          <a:prstGeom prst="straightConnector1">
            <a:avLst/>
          </a:prstGeom>
          <a:noFill/>
          <a:ln cap="flat" cmpd="sng" w="9525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8"/>
          <p:cNvSpPr/>
          <p:nvPr/>
        </p:nvSpPr>
        <p:spPr>
          <a:xfrm>
            <a:off x="4937760" y="259689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A8"/>
                </a:solidFill>
                <a:latin typeface="Calibri"/>
                <a:ea typeface="Calibri"/>
                <a:cs typeface="Calibri"/>
                <a:sym typeface="Calibri"/>
              </a:rPr>
              <a:t>Cidade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937760" y="28072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Brasília, DF — Brasil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7FD4"/>
          </a:solidFill>
          <a:ln cap="flat" cmpd="sng" w="12700">
            <a:solidFill>
              <a:srgbClr val="1A7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Rafael Robson Nunes de Araújo  ·  Fundador &amp; Engenheiro Full Stack 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